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051EEA-5D92-A6EA-5DD8-46254CE5B22A}" v="40" dt="2026-04-26T14:30:55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7FDD9-B7D3-4314-84FD-415D1FC083CE}" type="datetimeFigureOut">
              <a:t>2026/4/26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92A0B-9001-40B5-B1B6-9CBF4FBDE335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23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A3D5A">
              <a:alpha val="70000"/>
            </a:srgbClr>
          </a:solidFill>
          <a:ln w="12700">
            <a:solidFill>
              <a:srgbClr val="0A3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062035">
              <a:alpha val="80000"/>
            </a:srgbClr>
          </a:solidFill>
          <a:ln w="12700">
            <a:solidFill>
              <a:srgbClr val="06203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線上租屋平台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資料庫系統設計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32004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Part I  ·  資料庫系統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520440"/>
            <a:ext cx="5029200" cy="1188720"/>
          </a:xfrm>
          <a:prstGeom prst="rect">
            <a:avLst/>
          </a:prstGeom>
          <a:solidFill>
            <a:srgbClr val="0D3A5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6118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 err="1">
                <a:solidFill>
                  <a:srgbClr val="7EC8E3"/>
                </a:solidFill>
                <a:latin typeface="Calibri"/>
                <a:ea typeface="Calibri"/>
                <a:cs typeface="Calibri"/>
              </a:rPr>
              <a:t>題目：</a:t>
            </a:r>
            <a:r>
              <a:rPr lang="en-US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線上租屋平台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zh-TW" altLang="en-US" sz="1300" b="1">
                <a:solidFill>
                  <a:srgbClr val="7EC8E3"/>
                </a:solidFill>
                <a:latin typeface="Calibri"/>
                <a:ea typeface="Calibri"/>
                <a:cs typeface="Calibri"/>
              </a:rPr>
              <a:t>組員：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41243162</a:t>
            </a:r>
            <a:r>
              <a:rPr lang="zh-TW" alt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、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41243164</a:t>
            </a:r>
            <a:r>
              <a:rPr lang="zh-TW" alt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、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41043252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 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題目介紹與動機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719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系統背景與開發目的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411480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59152"/>
            <a:ext cx="5029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54203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432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應用情境與使用案例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8895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 Cases &amp; 角色分析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29584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29584"/>
            <a:ext cx="5029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7124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6027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系統需求說明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059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功能性 &amp; 非功能性需求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5029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371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1261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完整性限制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1719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Business Rules &amp; Constraints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359152"/>
            <a:ext cx="411480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59152"/>
            <a:ext cx="5029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54203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4323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28895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實體關係圖及詳細說明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｜ 題目介紹與動機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</a:rPr>
              <a:t>市場痛點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4023360" cy="621792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27632"/>
            <a:ext cx="54864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7335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</a:rPr>
              <a:t>🏠 租屋資訊分散，難以比較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023360" cy="621792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54864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2316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</a:rPr>
              <a:t>📋 紙本合約流程繁瑣易出錯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127248"/>
            <a:ext cx="4023360" cy="621792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127248"/>
            <a:ext cx="54864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</a:rPr>
              <a:t>💰 付款紀錄不透明，糾紛難解決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877056"/>
            <a:ext cx="4023360" cy="621792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77056"/>
            <a:ext cx="54864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2277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</a:rPr>
              <a:t>🔍 看房預約效率低，溝通成本高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9669"/>
                </a:solidFill>
              </a:rPr>
              <a:t>系統目標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54880" y="1627632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627632"/>
            <a:ext cx="54864" cy="6217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67335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532D"/>
                </a:solidFill>
              </a:rPr>
              <a:t>✅  集中化房源管理，一站式瀏覽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77440"/>
            <a:ext cx="54864" cy="6217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42316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532D"/>
                </a:solidFill>
              </a:rPr>
              <a:t>✅  線上數位化租約，簽約快速安全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3127248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27248"/>
            <a:ext cx="54864" cy="6217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17296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532D"/>
                </a:solidFill>
              </a:rPr>
              <a:t>✅  透明化付款紀錄，保障雙方權益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3877056"/>
            <a:ext cx="40233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877056"/>
            <a:ext cx="54864" cy="6217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92277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532D"/>
                </a:solidFill>
              </a:rPr>
              <a:t>✅  線上看房預約，提升媒合效率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｜ 應用情境與使用案例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</a:rPr>
              <a:t>系統角色定義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3429000"/>
          </a:xfrm>
          <a:prstGeom prst="rect">
            <a:avLst/>
          </a:prstGeom>
          <a:solidFill>
            <a:srgbClr val="E0F2FE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🏘️ 房東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刊登新房源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設定房源資訊（地址、坪數、租金）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管理看房預約申請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審核租客資料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確認租約並收款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管理維修請求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18688" y="1463040"/>
            <a:ext cx="2743200" cy="3429000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463040"/>
            <a:ext cx="2743200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🧑‍💼 租客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10128" y="214884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搜尋 &amp; 篩選房源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預約看房時段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提交租屋申請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線上簽署租約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繳納租金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提交維修需求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1463040"/>
            <a:ext cx="2743200" cy="3429000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463040"/>
            <a:ext cx="274320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🛡️ 管理員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4496" y="214884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審核房源上架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處理用戶舉報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管理平台帳號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查看統計報表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維護系統資料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2540"/>
                </a:solidFill>
              </a:rPr>
              <a:t>平台公告管理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｜ 使用案例說明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822960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733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租客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1197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搜尋房源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63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租客輸入條件（地點、坪數、租金範圍），系統返回符合條件之房源列表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822960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UC-02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6733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租客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1197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預約看房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563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租客選擇房源後，選定可用時段提交預約，房東收到通知後確認或拒絕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23160"/>
            <a:ext cx="822960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514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UC-03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9535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房東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24780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刊登房源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8437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房東填寫房源詳細資訊（地址、坪數、租金、照片），送交管理員審核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423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23160"/>
            <a:ext cx="822960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14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UC-04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9535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租客/房東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24780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簽署租約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28437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雙方線上確認租約條款，系統產生數位租約並記錄簽署時間戳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703320"/>
            <a:ext cx="822960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UC-05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2336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租客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88720" y="37581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繳納租金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88720" y="41239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租客每月線上繳納租金，系統記錄付款紀錄並通知房東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703320"/>
            <a:ext cx="822960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UC-06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2336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管理員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37581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審核房源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0" y="41239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管理員查看待審核房源，確認資訊合規後核准上架或退回修改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｜ 系統需求說明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功能性需求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114800" cy="429768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367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FR-01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16367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</a:rPr>
              <a:t>會員註冊 / 登入（房東、租客分類）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75688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122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FR-02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0432" y="21122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</a:rPr>
              <a:t>房源新增、修改、刪除、查詢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4114800" cy="429768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877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FR-03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587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</a:rPr>
              <a:t>看房預約管理（申請 / 確認 / 取消）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26664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632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FR-04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30632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</a:rPr>
              <a:t>租約建立、簽署、終止管理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02152"/>
            <a:ext cx="4114800" cy="429768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5387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FR-05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70432" y="3538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</a:rPr>
              <a:t>每月租金繳納與付款紀錄查詢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142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FR-06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" y="40142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</a:rPr>
              <a:t>房源搜尋（多條件篩選）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453128"/>
            <a:ext cx="4114800" cy="429768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897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FR-07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70432" y="44897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</a:rPr>
              <a:t>評價系統（租客評價房東 / 房源）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051560"/>
            <a:ext cx="41148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非功能性需求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54880" y="1600200"/>
            <a:ext cx="41148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627632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🔒 安全性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1627632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密碼加密儲存；租約資料加密傳輸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25856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2286000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⚡ 效能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2286000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房源搜尋回應時間 &lt; 2 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916936"/>
            <a:ext cx="41148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2944368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🔄 可用性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2944368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系統可用率 ≥ 99.5%（月計算）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57530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3602736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📈 擴充性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0760" y="3602736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支援未來擴充維修管理、聊天功能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233672"/>
            <a:ext cx="4114800" cy="59436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4261104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🗄️ 一致性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80760" y="4261104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所有資料庫異動皆透過交易確保一致性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｜ 完整性限制（Integrity Constraints）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115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主鍵約束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Key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" y="196596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每位使用者（User）有唯一 user_id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" y="262432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578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每筆房源（Property）有唯一 property_id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3282696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323697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每份租約（Lease）有唯一 lease_id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394106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38953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每筆付款（Payment）有唯一 payment_id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743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27432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115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外鍵約束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Foreign Key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0128" y="19659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3547872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Lease.tenant_id → User.user_id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262432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2578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Lease.property_id → Property.property_id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328269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323697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Payment.lease_id → Lease.lease_id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394106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3547872" y="38953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Appointment.property_id → Property.property_id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097280"/>
            <a:ext cx="2743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097280"/>
            <a:ext cx="27432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115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業務規則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Rules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81928" y="196596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同一房源同時只能有一份有效租約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81928" y="2624328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2578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租約開始日期必須早於結束日期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81928" y="3282696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323697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租金金額必須大於 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81928" y="3941064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519672" y="38953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540"/>
                </a:solidFill>
              </a:rPr>
              <a:t>預約時段不得與已確認的預約重疊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540"/>
                </a:solidFill>
              </a:rPr>
              <a:t>⚠️  NOT NULL 約束：user_name、phone、property_address、lease_start_date、lease_end_date、rent_amount 皆不得為空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｜ ER Diagram – 主要實體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使用者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user_id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user_name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email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phone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role (房東/租客)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password_hash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created_at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09728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97280"/>
            <a:ext cx="2743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172968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Property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房源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6002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property_id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owner_id (FK→User)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address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area_sqm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rent_amount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floor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type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status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17336" y="109728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1097280"/>
            <a:ext cx="27432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117336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Appointment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預約看房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8776" y="16002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appt_id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property_id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tenant_id (FK→User)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appt_datetime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status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note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17520"/>
            <a:ext cx="27432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租約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5204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lease_id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property_id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tenant_id (FK→User)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start_date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end_date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rent_amount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signed_at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status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301752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301752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172968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付款紀錄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5204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payment_id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lease_id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amount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pay_date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method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status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17336" y="3017520"/>
            <a:ext cx="27432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3017520"/>
            <a:ext cx="2743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117336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評價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08776" y="35204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review_id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lease_id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reviewer_id (FK→User)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rating (1-5)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comment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540"/>
                </a:solidFill>
              </a:rPr>
              <a:t>created_at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｜ ER Diagram – 關聯說明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280160"/>
            <a:ext cx="27432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2984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User（使用者）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2560320"/>
            <a:ext cx="24688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25786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🏠 Property（房源）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3840480"/>
            <a:ext cx="24688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Appointment（預約）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560320"/>
            <a:ext cx="24688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5786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Lease（租約）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840480"/>
            <a:ext cx="24688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Payment（付款）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4206240"/>
            <a:ext cx="24688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4224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Review（評價）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1965960"/>
            <a:ext cx="137160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984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擁有 (1:N)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25880" y="3273552"/>
            <a:ext cx="137160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預約 (M:N)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1965960"/>
            <a:ext cx="137160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984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簽署 (M:N)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3273552"/>
            <a:ext cx="137160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產生 (1:N)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86200" y="3611880"/>
            <a:ext cx="137160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630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評價 (1:N)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｜ ER Diagram – 關聯詳細說明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15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11155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Relationship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11155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1155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基數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1115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說明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62179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642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User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6642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540"/>
                </a:solidFill>
              </a:rPr>
              <a:t>擁有 (owns)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66420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Property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5968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1 : 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21808" y="1664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一位房東可擁有多間房源；每間房源屬於一位房東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2257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User(租客)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3225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540"/>
                </a:solidFill>
              </a:rPr>
              <a:t>預約 (schedules)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32257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Appointment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23225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1 : 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21808" y="23225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一位租客可預約多次看房；每筆預約屬於一位租客與一間房源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44368"/>
            <a:ext cx="8595360" cy="62179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8094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User(租客)/User(房東)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29809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540"/>
                </a:solidFill>
              </a:rPr>
              <a:t>簽署 (signs)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298094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Lease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15968" y="29809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M : N → Lease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29809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租約連結租客與房源；同一房源同時只能有一份 active 租約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02736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6393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Lease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37360" y="36393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540"/>
                </a:solidFill>
              </a:rPr>
              <a:t>包含 (includes)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36393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Payment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15968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1 : 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36393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一份租約產生多筆付款紀錄；每筆付款屬於唯一一份租約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61104"/>
            <a:ext cx="8595360" cy="62179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2976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User(租客)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37360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540"/>
                </a:solidFill>
              </a:rPr>
              <a:t>給予 (gives)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42976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Review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15968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1 : 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21808" y="4297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租客租屋結束後可對房源評價；每筆評價連結至對應租約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3A5C">
              <a:alpha val="70000"/>
            </a:srgbClr>
          </a:solidFill>
          <a:ln w="12700">
            <a:solidFill>
              <a:srgbClr val="0D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總  結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5486400" cy="521208"/>
          </a:xfrm>
          <a:prstGeom prst="rect">
            <a:avLst/>
          </a:prstGeom>
          <a:solidFill>
            <a:srgbClr val="0D3A5C"/>
          </a:solidFill>
          <a:ln w="12700">
            <a:solidFill>
              <a:srgbClr val="1C5C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建立完整的</a:t>
            </a:r>
            <a:r>
              <a:rPr lang="en-US" sz="1300" dirty="0">
                <a:solidFill>
                  <a:srgbClr val="FFFFFF"/>
                </a:solidFill>
              </a:rPr>
              <a:t> 6 </a:t>
            </a:r>
            <a:r>
              <a:rPr lang="en-US" sz="1300" dirty="0" err="1">
                <a:solidFill>
                  <a:srgbClr val="FFFFFF"/>
                </a:solidFill>
              </a:rPr>
              <a:t>個核心資料實體</a:t>
            </a:r>
            <a:endParaRPr lang="en-US" sz="1300" dirty="0" err="1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5486400" cy="521208"/>
          </a:xfrm>
          <a:prstGeom prst="rect">
            <a:avLst/>
          </a:prstGeom>
          <a:solidFill>
            <a:srgbClr val="0A2F4E"/>
          </a:solidFill>
          <a:ln w="12700">
            <a:solidFill>
              <a:srgbClr val="1C5C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377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</a:rPr>
              <a:t>涵蓋房東、租客、管理員三種角色使用案例</a:t>
            </a:r>
            <a:endParaRPr lang="en-US" sz="1300" dirty="0" err="1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5486400" cy="521208"/>
          </a:xfrm>
          <a:prstGeom prst="rect">
            <a:avLst/>
          </a:prstGeom>
          <a:solidFill>
            <a:srgbClr val="0D3A5C"/>
          </a:solidFill>
          <a:ln w="12700">
            <a:solidFill>
              <a:srgbClr val="1C5C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971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定義</a:t>
            </a:r>
            <a:r>
              <a:rPr lang="en-US" sz="1300" dirty="0">
                <a:solidFill>
                  <a:srgbClr val="FFFFFF"/>
                </a:solidFill>
              </a:rPr>
              <a:t> 7 </a:t>
            </a:r>
            <a:r>
              <a:rPr lang="en-US" sz="1300" dirty="0" err="1">
                <a:solidFill>
                  <a:srgbClr val="FFFFFF"/>
                </a:solidFill>
              </a:rPr>
              <a:t>項功能性需求</a:t>
            </a:r>
            <a:r>
              <a:rPr lang="en-US" sz="1300" dirty="0">
                <a:solidFill>
                  <a:srgbClr val="FFFFFF"/>
                </a:solidFill>
              </a:rPr>
              <a:t> + 5 </a:t>
            </a:r>
            <a:r>
              <a:rPr lang="en-US" sz="1300" dirty="0" err="1">
                <a:solidFill>
                  <a:srgbClr val="FFFFFF"/>
                </a:solidFill>
              </a:rPr>
              <a:t>項非功能性需求</a:t>
            </a:r>
            <a:endParaRPr lang="en-US" sz="1300" dirty="0" err="1"/>
          </a:p>
        </p:txBody>
      </p:sp>
      <p:sp>
        <p:nvSpPr>
          <p:cNvPr id="12" name="Shape 9"/>
          <p:cNvSpPr/>
          <p:nvPr/>
        </p:nvSpPr>
        <p:spPr>
          <a:xfrm>
            <a:off x="457200" y="3520440"/>
            <a:ext cx="5486400" cy="521208"/>
          </a:xfrm>
          <a:prstGeom prst="rect">
            <a:avLst/>
          </a:prstGeom>
          <a:solidFill>
            <a:srgbClr val="0A2F4E"/>
          </a:solidFill>
          <a:ln w="12700">
            <a:solidFill>
              <a:srgbClr val="1C5C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66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建立主鍵、外鍵及業務規則完整性限制</a:t>
            </a:r>
            <a:endParaRPr lang="en-US" sz="1300" dirty="0" err="1"/>
          </a:p>
        </p:txBody>
      </p:sp>
      <p:sp>
        <p:nvSpPr>
          <p:cNvPr id="14" name="Shape 11"/>
          <p:cNvSpPr/>
          <p:nvPr/>
        </p:nvSpPr>
        <p:spPr>
          <a:xfrm>
            <a:off x="457200" y="4114800"/>
            <a:ext cx="5486400" cy="521208"/>
          </a:xfrm>
          <a:prstGeom prst="rect">
            <a:avLst/>
          </a:prstGeom>
          <a:solidFill>
            <a:srgbClr val="0D3A5C"/>
          </a:solidFill>
          <a:ln w="12700">
            <a:solidFill>
              <a:srgbClr val="1C5C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160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  ER Diagram </a:t>
            </a:r>
            <a:r>
              <a:rPr lang="en-US" sz="1300" dirty="0" err="1">
                <a:solidFill>
                  <a:srgbClr val="FFFFFF"/>
                </a:solidFill>
              </a:rPr>
              <a:t>清楚呈現實體間關聯與基數</a:t>
            </a:r>
            <a:endParaRPr lang="en-US" sz="1300" dirty="0" err="1"/>
          </a:p>
        </p:txBody>
      </p:sp>
      <p:sp>
        <p:nvSpPr>
          <p:cNvPr id="16" name="Text 13"/>
          <p:cNvSpPr/>
          <p:nvPr/>
        </p:nvSpPr>
        <p:spPr>
          <a:xfrm>
            <a:off x="457200" y="4709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EC8E3"/>
                </a:solidFill>
              </a:rPr>
              <a:t>Thank You！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如螢幕大小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線上租屋平台 – 資料庫系統</dc:title>
  <dc:subject>PptxGenJS Presentation</dc:subject>
  <dc:creator>PptxGenJS</dc:creator>
  <cp:lastModifiedBy>PptxGenJS</cp:lastModifiedBy>
  <cp:revision>12</cp:revision>
  <dcterms:created xsi:type="dcterms:W3CDTF">2026-04-26T14:23:38Z</dcterms:created>
  <dcterms:modified xsi:type="dcterms:W3CDTF">2026-04-26T14:41:10Z</dcterms:modified>
</cp:coreProperties>
</file>