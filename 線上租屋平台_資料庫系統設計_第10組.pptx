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31"/>
      <p:bold r:id="rId32"/>
    </p:embeddedFont>
    <p:embeddedFont>
      <p:font typeface="Roboto Mono" panose="00000009000000000000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nvYcXO5LfKk046vQwJsc26AP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3CFB2A-C976-4132-8267-7F34CCD0401A}">
  <a:tblStyle styleId="{643CFB2A-C976-4132-8267-7F34CCD040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739625b8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g3e739625b8e_1_2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e739625b8e_1_2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739625b8e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g3e739625b8e_1_3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e739625b8e_1_3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739625b8e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e739625b8e_1_4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e739625b8e_1_4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739625b8e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e739625b8e_1_5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e739625b8e_1_5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739625b8e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e739625b8e_1_6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e739625b8e_1_6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39625b8e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e739625b8e_1_7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e739625b8e_1_7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739625b8e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e739625b8e_1_7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e739625b8e_1_7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739625b8e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e739625b8e_1_8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e739625b8e_1_8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739625b8e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e739625b8e_1_21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e739625b8e_1_21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39625b8e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e739625b8e_1_9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e739625b8e_1_9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39625b8e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e739625b8e_1_26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739625b8e_1_26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739625b8e_1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e739625b8e_1_26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739625b8e_1_26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739625b8e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e739625b8e_1_9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739625b8e_1_9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739625b8e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e739625b8e_1_10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e739625b8e_1_10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739625b8e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e739625b8e_1_10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e739625b8e_1_10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39625b8e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e739625b8e_1_11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e739625b8e_1_11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39625b8e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e739625b8e_1_12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e739625b8e_1_12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739625b8e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e739625b8e_1_12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e739625b8e_1_12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739625b8e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e739625b8e_1_13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e739625b8e_1_13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739625b8e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e739625b8e_1_13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e739625b8e_1_13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739625b8e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e739625b8e_1_15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e739625b8e_1_15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39625b8e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e739625b8e_1_14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e739625b8e_1_14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739625b8e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e739625b8e_1_15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e739625b8e_1_15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739625b8e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e739625b8e_1_16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739625b8e_1_16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39625b8e_1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e739625b8e_1_17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e739625b8e_1_17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739625b8e_1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e739625b8e_1_35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e739625b8e_1_35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3D5A">
              <a:alpha val="70196"/>
            </a:srgbClr>
          </a:solidFill>
          <a:ln w="12700" cap="flat" cmpd="sng">
            <a:solidFill>
              <a:srgbClr val="0A3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62035">
              <a:alpha val="80000"/>
            </a:srgbClr>
          </a:solidFill>
          <a:ln w="12700" cap="flat" cmpd="sng">
            <a:solidFill>
              <a:srgbClr val="062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0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lang="zh-TW" sz="4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線上租屋平台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82880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2800"/>
              <a:buFont typeface="Calibri"/>
              <a:buNone/>
            </a:pPr>
            <a:r>
              <a:rPr lang="zh-TW" sz="2800" b="0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資料庫系統設計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400"/>
              <a:buFont typeface="Calibri"/>
              <a:buNone/>
            </a:pPr>
            <a:r>
              <a:rPr lang="zh-TW" sz="1400" b="0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Final Project Part I</a:t>
            </a:r>
            <a:r>
              <a:rPr lang="zh-TW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zh-TW" sz="1400" b="0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  ·  資料庫系統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520440"/>
            <a:ext cx="5029200" cy="1188720"/>
          </a:xfrm>
          <a:prstGeom prst="rect">
            <a:avLst/>
          </a:prstGeom>
          <a:solidFill>
            <a:srgbClr val="0D3A5C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40080" y="36118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lang="zh-TW" sz="1300" b="1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題目：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線上租屋平台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lang="zh-TW" sz="1300" b="1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組員：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41243162、41</a:t>
            </a:r>
            <a:r>
              <a:rPr lang="zh-TW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43164、41043252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目  錄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66180" y="1011630"/>
            <a:ext cx="5262300" cy="413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系統概述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使用案例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應用情境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功能需求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ER Diagram (實體關係與基數)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完整性限制 (Data Schema &amp; SQL)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使用者權限設定 (Privileges)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View (視圖應用)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心得</a:t>
            </a:r>
            <a:endParaRPr sz="1900" dirty="0"/>
          </a:p>
        </p:txBody>
      </p:sp>
      <p:pic>
        <p:nvPicPr>
          <p:cNvPr id="34" name="Google Shape;34;p2" title="1111111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750" y="1005840"/>
            <a:ext cx="3053250" cy="202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739625b8e_1_2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e739625b8e_1_2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系統概述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" name="Google Shape;42;g3e739625b8e_1_22"/>
          <p:cNvSpPr txBox="1"/>
          <p:nvPr/>
        </p:nvSpPr>
        <p:spPr>
          <a:xfrm>
            <a:off x="540250" y="1719450"/>
            <a:ext cx="7560300" cy="250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900" dirty="0"/>
              <a:t>本系統旨在協助租客與房東有效整合與管理租屋資訊。從房源刊登、精準搜尋、線上預約看房，到數位租約簽署與每月租金繳納紀錄。系統將透過關聯式資料庫嚴謹的交易機制與完整性限制，解決傳統租屋市場資訊不透明、一屋二租及金流難以追蹤的痛點，打造安全、高效率的租屋媒合生態圈。 </a:t>
            </a:r>
            <a:endParaRPr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739625b8e_1_3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e739625b8e_1_3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使用案例 (房東與管理員)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" name="Google Shape;50;g3e739625b8e_1_31"/>
          <p:cNvSpPr txBox="1"/>
          <p:nvPr/>
        </p:nvSpPr>
        <p:spPr>
          <a:xfrm>
            <a:off x="458160" y="914340"/>
            <a:ext cx="8044800" cy="41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房東 (Landlord)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管理房源：</a:t>
            </a:r>
            <a:r>
              <a:rPr lang="zh-TW" sz="1900" dirty="0">
                <a:solidFill>
                  <a:schemeClr val="dk1"/>
                </a:solidFill>
              </a:rPr>
              <a:t> 新增、修改、下架所屬房屋資訊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審核預約：</a:t>
            </a:r>
            <a:r>
              <a:rPr lang="zh-TW" sz="1900" dirty="0">
                <a:solidFill>
                  <a:schemeClr val="dk1"/>
                </a:solidFill>
              </a:rPr>
              <a:t> 接收租客看房請求並確認時間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租約與對帳：</a:t>
            </a:r>
            <a:r>
              <a:rPr lang="zh-TW" sz="1900" dirty="0">
                <a:solidFill>
                  <a:schemeClr val="dk1"/>
                </a:solidFill>
              </a:rPr>
              <a:t> 建立數位租約，追蹤租客每月繳款狀態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資料庫管理員 (DBA)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管理資料庫內容：</a:t>
            </a:r>
            <a:r>
              <a:rPr lang="zh-TW" sz="1900" dirty="0">
                <a:solidFill>
                  <a:schemeClr val="dk1"/>
                </a:solidFill>
              </a:rPr>
              <a:t> 查看所有使用者與交易資料，處理異常帳務與系統備份 (對應所有資料表)。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739625b8e_1_4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3e739625b8e_1_4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使用案例 (租客)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" name="Google Shape;58;g3e739625b8e_1_43"/>
          <p:cNvSpPr txBox="1"/>
          <p:nvPr/>
        </p:nvSpPr>
        <p:spPr>
          <a:xfrm>
            <a:off x="649475" y="1411300"/>
            <a:ext cx="831896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租客 (Tenant)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多條件搜尋：</a:t>
            </a:r>
            <a:r>
              <a:rPr lang="zh-TW" sz="1900" dirty="0">
                <a:solidFill>
                  <a:schemeClr val="dk1"/>
                </a:solidFill>
              </a:rPr>
              <a:t> 依據預算、房型、地區等條件篩選待租物件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預約看房：</a:t>
            </a:r>
            <a:r>
              <a:rPr lang="zh-TW" sz="1900" dirty="0">
                <a:solidFill>
                  <a:schemeClr val="dk1"/>
                </a:solidFill>
              </a:rPr>
              <a:t> 對心儀的房源發送預約請求與留言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繳費與評價：</a:t>
            </a:r>
            <a:r>
              <a:rPr lang="zh-TW" sz="1900" dirty="0">
                <a:solidFill>
                  <a:schemeClr val="dk1"/>
                </a:solidFill>
              </a:rPr>
              <a:t> 租約成立後，紀錄繳款資訊；退租後對房源與房東留下星級評價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739625b8e_1_5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e739625b8e_1_5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應用情境 (一)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g3e739625b8e_1_52"/>
          <p:cNvSpPr txBox="1"/>
          <p:nvPr/>
        </p:nvSpPr>
        <p:spPr>
          <a:xfrm>
            <a:off x="542650" y="1378950"/>
            <a:ext cx="8329500" cy="3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1. 租客精準搜尋與預約看房</a:t>
            </a:r>
            <a:endParaRPr sz="19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dirty="0">
                <a:solidFill>
                  <a:schemeClr val="dk1"/>
                </a:solidFill>
              </a:rPr>
              <a:t>每逢學期末，學生小明需要尋找學校附近的租屋處。小明登入系統後，設定篩選條件為「月租金 5000-8000 元」且「狀態為 Available (待租中)」。系統快速撈取符合條件的清單，小明點擊其中一間套房後，直接在畫面上發起「預約看房」，並備註「請問晚上 7 點方便看房嗎？」，系統隨即將資料寫入 </a:t>
            </a:r>
            <a:r>
              <a:rPr lang="zh-TW" sz="1900" dirty="0">
                <a:solidFill>
                  <a:srgbClr val="188038"/>
                </a:solidFill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表，並通知房東。 </a:t>
            </a:r>
            <a:endParaRPr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39625b8e_1_6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e739625b8e_1_6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應用情境 (二)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" name="Google Shape;74;g3e739625b8e_1_61"/>
          <p:cNvSpPr txBox="1"/>
          <p:nvPr/>
        </p:nvSpPr>
        <p:spPr>
          <a:xfrm>
            <a:off x="676875" y="1436225"/>
            <a:ext cx="7728900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2. 房東物件管理與防呆機制</a:t>
            </a:r>
            <a:r>
              <a:rPr lang="zh-TW" sz="1900" dirty="0">
                <a:solidFill>
                  <a:schemeClr val="dk1"/>
                </a:solidFill>
              </a:rPr>
              <a:t> </a:t>
            </a:r>
            <a:endParaRPr sz="19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dirty="0">
                <a:solidFill>
                  <a:schemeClr val="dk1"/>
                </a:solidFill>
              </a:rPr>
              <a:t>房東林先生手上有多間套房招租。當小明看完房決定簽約後，林先生在系統上操作「建立租約」。系統寫入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表的同時，觸發資料庫機制自動將該房屋在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表的狀態更改為「Rented (已出租)」。這確保了該物件會從前台搜尋結果中「自動下架」，防止其他租客重複預約，完美避免「一屋二租」的問題。 </a:t>
            </a:r>
            <a:endParaRPr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739625b8e_1_7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e739625b8e_1_70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功能需求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" name="Google Shape;82;g3e739625b8e_1_70"/>
          <p:cNvSpPr txBox="1"/>
          <p:nvPr/>
        </p:nvSpPr>
        <p:spPr>
          <a:xfrm>
            <a:off x="472625" y="1197025"/>
            <a:ext cx="8379600" cy="3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(1) 會員與房源管理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區分「房東」與「租客」角色，給予不同操作介面。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房東可對其擁有的物件進行 CRUD 操作（包含地址、坪數、租金、房型）。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(2) 搜尋與預約系統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提供複合條件查詢功能，並自動過濾已出租的物件。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完整的線上預約看房流程，包含狀態追蹤（待審核、已確認、已取消）。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39625b8e_1_7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e739625b8e_1_7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功能需求與非功能需求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g3e739625b8e_1_79"/>
          <p:cNvSpPr txBox="1"/>
          <p:nvPr/>
        </p:nvSpPr>
        <p:spPr>
          <a:xfrm>
            <a:off x="452500" y="1167500"/>
            <a:ext cx="8644500" cy="3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(3) 租約與金流紀錄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詳細記錄租約的起訖日期與簽約金額。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串接每月的租金繳納紀錄，包含繳款日期、金額與支付方式。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(4) 評分機制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租約結束後，雙方可基於真實交易紀錄給予 1-5 顆星評分。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(5) 非功能性需求 (安全性與 ACID)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密碼必須經 Hash 加密儲存。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運用資料庫 Transaction (交易) 機制，確保租約簽署與狀態變更的一致性。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739625b8e_1_8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e739625b8e_1_8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實體關係圖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8" name="Google Shape;98;g3e739625b8e_1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50" y="1069800"/>
            <a:ext cx="8403951" cy="403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39625b8e_1_21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e739625b8e_1_210"/>
          <p:cNvSpPr/>
          <p:nvPr/>
        </p:nvSpPr>
        <p:spPr>
          <a:xfrm>
            <a:off x="36576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各資料表之間的實體關係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739625b8e_1_210"/>
          <p:cNvSpPr/>
          <p:nvPr/>
        </p:nvSpPr>
        <p:spPr>
          <a:xfrm>
            <a:off x="274320" y="1078992"/>
            <a:ext cx="85953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739625b8e_1_210"/>
          <p:cNvSpPr/>
          <p:nvPr/>
        </p:nvSpPr>
        <p:spPr>
          <a:xfrm>
            <a:off x="274320" y="111556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739625b8e_1_210"/>
          <p:cNvSpPr/>
          <p:nvPr/>
        </p:nvSpPr>
        <p:spPr>
          <a:xfrm>
            <a:off x="1691640" y="1115568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739625b8e_1_210"/>
          <p:cNvSpPr/>
          <p:nvPr/>
        </p:nvSpPr>
        <p:spPr>
          <a:xfrm>
            <a:off x="3154680" y="1115568"/>
            <a:ext cx="1097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739625b8e_1_210"/>
          <p:cNvSpPr/>
          <p:nvPr/>
        </p:nvSpPr>
        <p:spPr>
          <a:xfrm>
            <a:off x="4297680" y="1115568"/>
            <a:ext cx="96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基數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739625b8e_1_210"/>
          <p:cNvSpPr/>
          <p:nvPr/>
        </p:nvSpPr>
        <p:spPr>
          <a:xfrm>
            <a:off x="5303520" y="1115568"/>
            <a:ext cx="3520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說明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739625b8e_1_210"/>
          <p:cNvSpPr/>
          <p:nvPr/>
        </p:nvSpPr>
        <p:spPr>
          <a:xfrm>
            <a:off x="274320" y="1627632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e739625b8e_1_210"/>
          <p:cNvSpPr/>
          <p:nvPr/>
        </p:nvSpPr>
        <p:spPr>
          <a:xfrm>
            <a:off x="320040" y="1664208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739625b8e_1_210"/>
          <p:cNvSpPr/>
          <p:nvPr/>
        </p:nvSpPr>
        <p:spPr>
          <a:xfrm>
            <a:off x="1737360" y="1664208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擁有 (owns)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739625b8e_1_210"/>
          <p:cNvSpPr/>
          <p:nvPr/>
        </p:nvSpPr>
        <p:spPr>
          <a:xfrm>
            <a:off x="3200400" y="1664208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739625b8e_1_210"/>
          <p:cNvSpPr/>
          <p:nvPr/>
        </p:nvSpPr>
        <p:spPr>
          <a:xfrm>
            <a:off x="4315968" y="1664208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739625b8e_1_210"/>
          <p:cNvSpPr/>
          <p:nvPr/>
        </p:nvSpPr>
        <p:spPr>
          <a:xfrm>
            <a:off x="5321808" y="1664208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一位房東可擁有多間房源；每間房源屬於一位房東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739625b8e_1_210"/>
          <p:cNvSpPr/>
          <p:nvPr/>
        </p:nvSpPr>
        <p:spPr>
          <a:xfrm>
            <a:off x="274320" y="2286000"/>
            <a:ext cx="8595300" cy="621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e739625b8e_1_210"/>
          <p:cNvSpPr/>
          <p:nvPr/>
        </p:nvSpPr>
        <p:spPr>
          <a:xfrm>
            <a:off x="320040" y="2322576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739625b8e_1_210"/>
          <p:cNvSpPr/>
          <p:nvPr/>
        </p:nvSpPr>
        <p:spPr>
          <a:xfrm>
            <a:off x="1737360" y="2322576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預約 (schedules)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739625b8e_1_210"/>
          <p:cNvSpPr/>
          <p:nvPr/>
        </p:nvSpPr>
        <p:spPr>
          <a:xfrm>
            <a:off x="3200400" y="2322576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Appointment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739625b8e_1_210"/>
          <p:cNvSpPr/>
          <p:nvPr/>
        </p:nvSpPr>
        <p:spPr>
          <a:xfrm>
            <a:off x="4315968" y="2322576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739625b8e_1_210"/>
          <p:cNvSpPr/>
          <p:nvPr/>
        </p:nvSpPr>
        <p:spPr>
          <a:xfrm>
            <a:off x="5321808" y="2322576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一位租客可預約多次看房；每筆預約屬於一位租客與一間房源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739625b8e_1_210"/>
          <p:cNvSpPr/>
          <p:nvPr/>
        </p:nvSpPr>
        <p:spPr>
          <a:xfrm>
            <a:off x="274320" y="2944368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e739625b8e_1_210"/>
          <p:cNvSpPr/>
          <p:nvPr/>
        </p:nvSpPr>
        <p:spPr>
          <a:xfrm>
            <a:off x="320040" y="2980944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User(租客)/User(房東)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739625b8e_1_210"/>
          <p:cNvSpPr/>
          <p:nvPr/>
        </p:nvSpPr>
        <p:spPr>
          <a:xfrm>
            <a:off x="1737360" y="2980944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簽署 (signs)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739625b8e_1_210"/>
          <p:cNvSpPr/>
          <p:nvPr/>
        </p:nvSpPr>
        <p:spPr>
          <a:xfrm>
            <a:off x="3200400" y="2980944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739625b8e_1_210"/>
          <p:cNvSpPr/>
          <p:nvPr/>
        </p:nvSpPr>
        <p:spPr>
          <a:xfrm>
            <a:off x="4315968" y="2980944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 : N → 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739625b8e_1_210"/>
          <p:cNvSpPr/>
          <p:nvPr/>
        </p:nvSpPr>
        <p:spPr>
          <a:xfrm>
            <a:off x="5321808" y="2980944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租約連結租客與房源；同一房源同時只能有一份 active 租約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739625b8e_1_210"/>
          <p:cNvSpPr/>
          <p:nvPr/>
        </p:nvSpPr>
        <p:spPr>
          <a:xfrm>
            <a:off x="274320" y="3602736"/>
            <a:ext cx="8595300" cy="621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e739625b8e_1_210"/>
          <p:cNvSpPr/>
          <p:nvPr/>
        </p:nvSpPr>
        <p:spPr>
          <a:xfrm>
            <a:off x="320040" y="3639312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739625b8e_1_210"/>
          <p:cNvSpPr/>
          <p:nvPr/>
        </p:nvSpPr>
        <p:spPr>
          <a:xfrm>
            <a:off x="1737360" y="363931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包含 (includes)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739625b8e_1_210"/>
          <p:cNvSpPr/>
          <p:nvPr/>
        </p:nvSpPr>
        <p:spPr>
          <a:xfrm>
            <a:off x="3200400" y="3639312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739625b8e_1_210"/>
          <p:cNvSpPr/>
          <p:nvPr/>
        </p:nvSpPr>
        <p:spPr>
          <a:xfrm>
            <a:off x="4315968" y="3639312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739625b8e_1_210"/>
          <p:cNvSpPr/>
          <p:nvPr/>
        </p:nvSpPr>
        <p:spPr>
          <a:xfrm>
            <a:off x="5321808" y="3639312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一份租約產生多筆付款紀錄；每筆付款屬於唯一一份租約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739625b8e_1_210"/>
          <p:cNvSpPr/>
          <p:nvPr/>
        </p:nvSpPr>
        <p:spPr>
          <a:xfrm>
            <a:off x="274320" y="4261104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e739625b8e_1_210"/>
          <p:cNvSpPr/>
          <p:nvPr/>
        </p:nvSpPr>
        <p:spPr>
          <a:xfrm>
            <a:off x="320040" y="4297680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739625b8e_1_210"/>
          <p:cNvSpPr/>
          <p:nvPr/>
        </p:nvSpPr>
        <p:spPr>
          <a:xfrm>
            <a:off x="1737360" y="429768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給予 (gives)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739625b8e_1_210"/>
          <p:cNvSpPr/>
          <p:nvPr/>
        </p:nvSpPr>
        <p:spPr>
          <a:xfrm>
            <a:off x="3200400" y="4297680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739625b8e_1_210"/>
          <p:cNvSpPr/>
          <p:nvPr/>
        </p:nvSpPr>
        <p:spPr>
          <a:xfrm>
            <a:off x="4315968" y="429768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739625b8e_1_210"/>
          <p:cNvSpPr/>
          <p:nvPr/>
        </p:nvSpPr>
        <p:spPr>
          <a:xfrm>
            <a:off x="5321808" y="4297680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租客租屋結束後可對房源評價；每筆評價連結至對應租約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739625b8e_1_9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e739625b8e_1_9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各資料表之間的實體關係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g3e739625b8e_1_91"/>
          <p:cNvSpPr txBox="1"/>
          <p:nvPr/>
        </p:nvSpPr>
        <p:spPr>
          <a:xfrm>
            <a:off x="365750" y="1005900"/>
            <a:ext cx="8176500" cy="4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擁有 (Owns)：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Property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owner_id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User</a:t>
            </a:r>
            <a:r>
              <a:rPr lang="zh-TW">
                <a:solidFill>
                  <a:schemeClr val="dk1"/>
                </a:solidFill>
              </a:rPr>
              <a:t> 的 </a:t>
            </a:r>
            <a:r>
              <a:rPr lang="zh-TW">
                <a:solidFill>
                  <a:srgbClr val="188038"/>
                </a:solidFill>
              </a:rPr>
              <a:t>user_id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一位房東可以擁有多間房源。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預約 (Books)：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Appointment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property_id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Property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lang="zh-TW">
                <a:solidFill>
                  <a:srgbClr val="188038"/>
                </a:solidFill>
              </a:rPr>
              <a:t>tenant_id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User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一位租客可預約多次看房；一間房可被多人預約。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簽署 (Signs)：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 同時參照房屋與租客，解決 M:N 關係。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M : N</a:t>
            </a:r>
            <a:r>
              <a:rPr lang="zh-TW">
                <a:solidFill>
                  <a:schemeClr val="dk1"/>
                </a:solidFill>
              </a:rPr>
              <a:t> -&gt; 租約是連結租客與房源的實體橋樑。同一時間一間房只能有一份 Active 租約。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</a:rPr>
              <a:t>包含 (Includes)：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Payment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 的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一份長期的租約會產生多筆每月的付款紀錄。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</a:rPr>
              <a:t>評價 (Reviews)：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Review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基於真實租約，租客才能對該次租屋體驗留下評分。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739625b8e_1_26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739625b8e_1_26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Users (使用者基本資料)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7" name="Google Shape;157;g3e739625b8e_1_262"/>
          <p:cNvSpPr txBox="1"/>
          <p:nvPr/>
        </p:nvSpPr>
        <p:spPr>
          <a:xfrm>
            <a:off x="494175" y="1180425"/>
            <a:ext cx="8176500" cy="3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</p:txBody>
      </p:sp>
      <p:graphicFrame>
        <p:nvGraphicFramePr>
          <p:cNvPr id="158" name="Google Shape;158;g3e739625b8e_1_262"/>
          <p:cNvGraphicFramePr/>
          <p:nvPr/>
        </p:nvGraphicFramePr>
        <p:xfrm>
          <a:off x="229875" y="1111675"/>
          <a:ext cx="8684225" cy="37482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43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user_id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使用者代號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user_name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姓名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VARCHAR(50)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長度 1~50 的文字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email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電子郵件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VARCHAR(100)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必須符合 Email 格式，且 UNIQUE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phone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電話號碼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VARCHAR(15)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僅限數字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role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權限角色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僅可為 'Landlord', 'Tenant', 'Admin'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password_hash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密碼雜湊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VARCHAR(255)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儲存加密後的密碼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created_at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創建時間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TIMESTAMP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預設為 CURRENT_TIMESTAMP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739625b8e_1_26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e739625b8e_1_26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Users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6" name="Google Shape;166;g3e739625b8e_1_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50" y="1045575"/>
            <a:ext cx="7875650" cy="377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39625b8e_1_9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e739625b8e_1_9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Property (房源物件資料)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74" name="Google Shape;174;g3e739625b8e_1_97"/>
          <p:cNvGraphicFramePr/>
          <p:nvPr/>
        </p:nvGraphicFramePr>
        <p:xfrm>
          <a:off x="257113" y="1303575"/>
          <a:ext cx="8629750" cy="33552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55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房源代號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owner_id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房東代號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Users.user_id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房屋地址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VARCHAR(255)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詳細地址字串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area_sqm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坪數/面積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的數值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月租金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type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如：套房、雅房、整層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'Available', 'Rented', 'Maintenance'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739625b8e_1_10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e739625b8e_1_10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Property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2" name="Google Shape;182;g3e739625b8e_1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00" y="1005900"/>
            <a:ext cx="7559100" cy="40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39625b8e_1_10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e739625b8e_1_10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Lease (數位租約資料)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90" name="Google Shape;190;g3e739625b8e_1_109"/>
          <p:cNvGraphicFramePr/>
          <p:nvPr/>
        </p:nvGraphicFramePr>
        <p:xfrm>
          <a:off x="379050" y="1157275"/>
          <a:ext cx="8385900" cy="35198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53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租約代號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房源代號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Property.property_id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tenant_id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租客代號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Users.user_id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start_date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起租日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必須早於退租日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end_date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退租日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必須晚於起租日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約定租金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合約狀態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'Active', 'Expired', 'Terminated'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739625b8e_1_11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739625b8e_1_11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Lease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8" name="Google Shape;198;g3e739625b8e_1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038" y="1079000"/>
            <a:ext cx="6497026" cy="399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739625b8e_1_12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739625b8e_1_12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Payment (付款紀錄)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206" name="Google Shape;206;g3e739625b8e_1_121"/>
          <p:cNvGraphicFramePr/>
          <p:nvPr/>
        </p:nvGraphicFramePr>
        <p:xfrm>
          <a:off x="187413" y="1148300"/>
          <a:ext cx="8769175" cy="36701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63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payment_id(PK)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交易單號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租約代號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Lease.lease_id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繳款金額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pay_date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繳款日期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實際付款日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method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繳款方式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'Transfer', 'Cash', 'CreditCard'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'Paid', 'Pending'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739625b8e_1_12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e739625b8e_1_12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Payment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4" name="Google Shape;214;g3e739625b8e_1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413" y="1066925"/>
            <a:ext cx="6309165" cy="3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39625b8e_1_13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e739625b8e_1_13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使用者權限設定 (Privileges)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2" name="Google Shape;222;g3e739625b8e_1_133"/>
          <p:cNvSpPr txBox="1"/>
          <p:nvPr/>
        </p:nvSpPr>
        <p:spPr>
          <a:xfrm>
            <a:off x="692750" y="1228575"/>
            <a:ext cx="7902600" cy="3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租客 (Tenant)權限：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只能 </a:t>
            </a:r>
            <a:r>
              <a:rPr lang="zh-TW" sz="1900">
                <a:solidFill>
                  <a:srgbClr val="188038"/>
                </a:solidFill>
              </a:rPr>
              <a:t>SELECT</a:t>
            </a:r>
            <a:r>
              <a:rPr lang="zh-TW" sz="1900">
                <a:solidFill>
                  <a:schemeClr val="dk1"/>
                </a:solidFill>
              </a:rPr>
              <a:t> 查看 </a:t>
            </a:r>
            <a:r>
              <a:rPr lang="zh-TW" sz="1900">
                <a:solidFill>
                  <a:srgbClr val="188038"/>
                </a:solidFill>
              </a:rPr>
              <a:t>Property</a:t>
            </a:r>
            <a:r>
              <a:rPr lang="zh-TW" sz="1900">
                <a:solidFill>
                  <a:schemeClr val="dk1"/>
                </a:solidFill>
              </a:rPr>
              <a:t> (待租房源) 與 </a:t>
            </a:r>
            <a:r>
              <a:rPr lang="zh-TW" sz="1900">
                <a:solidFill>
                  <a:srgbClr val="188038"/>
                </a:solidFill>
              </a:rPr>
              <a:t>Review</a:t>
            </a:r>
            <a:r>
              <a:rPr lang="zh-TW" sz="1900">
                <a:solidFill>
                  <a:schemeClr val="dk1"/>
                </a:solidFill>
              </a:rPr>
              <a:t> (評價)。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可以 </a:t>
            </a:r>
            <a:r>
              <a:rPr lang="zh-TW" sz="1900">
                <a:solidFill>
                  <a:srgbClr val="188038"/>
                </a:solidFill>
              </a:rPr>
              <a:t>INSERT</a:t>
            </a:r>
            <a:r>
              <a:rPr lang="zh-TW" sz="1900">
                <a:solidFill>
                  <a:schemeClr val="dk1"/>
                </a:solidFill>
              </a:rPr>
              <a:t>, </a:t>
            </a:r>
            <a:r>
              <a:rPr lang="zh-TW" sz="1900">
                <a:solidFill>
                  <a:srgbClr val="188038"/>
                </a:solidFill>
              </a:rPr>
              <a:t>UPDATE</a:t>
            </a:r>
            <a:r>
              <a:rPr lang="zh-TW" sz="1900">
                <a:solidFill>
                  <a:schemeClr val="dk1"/>
                </a:solidFill>
              </a:rPr>
              <a:t> 自己的 </a:t>
            </a:r>
            <a:r>
              <a:rPr lang="zh-TW" sz="1900">
                <a:solidFill>
                  <a:srgbClr val="188038"/>
                </a:solidFill>
              </a:rPr>
              <a:t>Appointment</a:t>
            </a:r>
            <a:r>
              <a:rPr lang="zh-TW" sz="1900">
                <a:solidFill>
                  <a:schemeClr val="dk1"/>
                </a:solidFill>
              </a:rPr>
              <a:t> (預約單)。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可以 </a:t>
            </a:r>
            <a:r>
              <a:rPr lang="zh-TW" sz="1900">
                <a:solidFill>
                  <a:srgbClr val="188038"/>
                </a:solidFill>
              </a:rPr>
              <a:t>SELECT</a:t>
            </a:r>
            <a:r>
              <a:rPr lang="zh-TW" sz="1900">
                <a:solidFill>
                  <a:schemeClr val="dk1"/>
                </a:solidFill>
              </a:rPr>
              <a:t> 自己的 </a:t>
            </a:r>
            <a:r>
              <a:rPr lang="zh-TW" sz="1900">
                <a:solidFill>
                  <a:srgbClr val="188038"/>
                </a:solidFill>
              </a:rPr>
              <a:t>Lease</a:t>
            </a:r>
            <a:r>
              <a:rPr lang="zh-TW" sz="1900">
                <a:solidFill>
                  <a:schemeClr val="dk1"/>
                </a:solidFill>
              </a:rPr>
              <a:t> 與 </a:t>
            </a:r>
            <a:r>
              <a:rPr lang="zh-TW" sz="1900">
                <a:solidFill>
                  <a:srgbClr val="188038"/>
                </a:solidFill>
              </a:rPr>
              <a:t>Payment</a:t>
            </a:r>
            <a:r>
              <a:rPr lang="zh-TW" sz="1900">
                <a:solidFill>
                  <a:schemeClr val="dk1"/>
                </a:solidFill>
              </a:rPr>
              <a:t>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房東 (Landlord)權限：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擁有對 </a:t>
            </a:r>
            <a:r>
              <a:rPr lang="zh-TW" sz="1900">
                <a:solidFill>
                  <a:srgbClr val="188038"/>
                </a:solidFill>
              </a:rPr>
              <a:t>Property</a:t>
            </a:r>
            <a:r>
              <a:rPr lang="zh-TW" sz="1900">
                <a:solidFill>
                  <a:schemeClr val="dk1"/>
                </a:solidFill>
              </a:rPr>
              <a:t> 的 CRUD (</a:t>
            </a:r>
            <a:r>
              <a:rPr lang="zh-TW" sz="1900">
                <a:solidFill>
                  <a:srgbClr val="188038"/>
                </a:solidFill>
              </a:rPr>
              <a:t>SELECT</a:t>
            </a:r>
            <a:r>
              <a:rPr lang="zh-TW" sz="1900">
                <a:solidFill>
                  <a:schemeClr val="dk1"/>
                </a:solidFill>
              </a:rPr>
              <a:t>, </a:t>
            </a:r>
            <a:r>
              <a:rPr lang="zh-TW" sz="1900">
                <a:solidFill>
                  <a:srgbClr val="188038"/>
                </a:solidFill>
              </a:rPr>
              <a:t>INSERT</a:t>
            </a:r>
            <a:r>
              <a:rPr lang="zh-TW" sz="1900">
                <a:solidFill>
                  <a:schemeClr val="dk1"/>
                </a:solidFill>
              </a:rPr>
              <a:t>, </a:t>
            </a:r>
            <a:r>
              <a:rPr lang="zh-TW" sz="1900">
                <a:solidFill>
                  <a:srgbClr val="188038"/>
                </a:solidFill>
              </a:rPr>
              <a:t>UPDATE</a:t>
            </a:r>
            <a:r>
              <a:rPr lang="zh-TW" sz="1900">
                <a:solidFill>
                  <a:schemeClr val="dk1"/>
                </a:solidFill>
              </a:rPr>
              <a:t>, </a:t>
            </a:r>
            <a:r>
              <a:rPr lang="zh-TW" sz="1900">
                <a:solidFill>
                  <a:srgbClr val="188038"/>
                </a:solidFill>
              </a:rPr>
              <a:t>DELETE</a:t>
            </a:r>
            <a:r>
              <a:rPr lang="zh-TW" sz="1900">
                <a:solidFill>
                  <a:schemeClr val="dk1"/>
                </a:solidFill>
              </a:rPr>
              <a:t>) 完整管理權限。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可以 </a:t>
            </a:r>
            <a:r>
              <a:rPr lang="zh-TW" sz="1900">
                <a:solidFill>
                  <a:srgbClr val="188038"/>
                </a:solidFill>
              </a:rPr>
              <a:t>UPDATE</a:t>
            </a:r>
            <a:r>
              <a:rPr lang="zh-TW" sz="1900">
                <a:solidFill>
                  <a:schemeClr val="dk1"/>
                </a:solidFill>
              </a:rPr>
              <a:t> 收到的 </a:t>
            </a:r>
            <a:r>
              <a:rPr lang="zh-TW" sz="1900">
                <a:solidFill>
                  <a:srgbClr val="188038"/>
                </a:solidFill>
              </a:rPr>
              <a:t>Appointment</a:t>
            </a:r>
            <a:r>
              <a:rPr lang="zh-TW" sz="1900">
                <a:solidFill>
                  <a:schemeClr val="dk1"/>
                </a:solidFill>
              </a:rPr>
              <a:t> (審核預約)。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可以 </a:t>
            </a:r>
            <a:r>
              <a:rPr lang="zh-TW" sz="1900">
                <a:solidFill>
                  <a:srgbClr val="188038"/>
                </a:solidFill>
              </a:rPr>
              <a:t>INSERT</a:t>
            </a:r>
            <a:r>
              <a:rPr lang="zh-TW" sz="1900">
                <a:solidFill>
                  <a:schemeClr val="dk1"/>
                </a:solidFill>
              </a:rPr>
              <a:t>, </a:t>
            </a:r>
            <a:r>
              <a:rPr lang="zh-TW" sz="1900">
                <a:solidFill>
                  <a:srgbClr val="188038"/>
                </a:solidFill>
              </a:rPr>
              <a:t>UPDATE</a:t>
            </a:r>
            <a:r>
              <a:rPr lang="zh-TW" sz="1900">
                <a:solidFill>
                  <a:schemeClr val="dk1"/>
                </a:solidFill>
              </a:rPr>
              <a:t> 所屬的 </a:t>
            </a:r>
            <a:r>
              <a:rPr lang="zh-TW" sz="1900">
                <a:solidFill>
                  <a:srgbClr val="188038"/>
                </a:solidFill>
              </a:rPr>
              <a:t>Lease</a:t>
            </a:r>
            <a:r>
              <a:rPr lang="zh-TW" sz="1900">
                <a:solidFill>
                  <a:schemeClr val="dk1"/>
                </a:solidFill>
              </a:rPr>
              <a:t> 與 </a:t>
            </a:r>
            <a:r>
              <a:rPr lang="zh-TW" sz="1900">
                <a:solidFill>
                  <a:srgbClr val="188038"/>
                </a:solidFill>
              </a:rPr>
              <a:t>Payment</a:t>
            </a:r>
            <a:r>
              <a:rPr lang="zh-TW" sz="1900">
                <a:solidFill>
                  <a:schemeClr val="dk1"/>
                </a:solidFill>
              </a:rPr>
              <a:t> 紀錄。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739625b8e_1_13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e739625b8e_1_13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使用者權限設定 - SQL 語法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0" name="Google Shape;230;g3e739625b8e_1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400" y="1005900"/>
            <a:ext cx="7255999" cy="39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739625b8e_1_15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739625b8e_1_15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(視圖應用一)：租客搜尋前台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g3e739625b8e_1_151"/>
          <p:cNvSpPr txBox="1"/>
          <p:nvPr/>
        </p:nvSpPr>
        <p:spPr>
          <a:xfrm>
            <a:off x="365750" y="1132175"/>
            <a:ext cx="8569500" cy="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目的：</a:t>
            </a:r>
            <a:r>
              <a:rPr lang="zh-TW" sz="1900" dirty="0">
                <a:solidFill>
                  <a:schemeClr val="dk1"/>
                </a:solidFill>
              </a:rPr>
              <a:t> 為了讓租客在前台搜尋時，能直接看到房屋資訊以及「房東的名字與聯絡方式」，而不需要去查 Users 表，我們建立一個專屬視圖，並且</a:t>
            </a:r>
            <a:r>
              <a:rPr lang="zh-TW" sz="1900" b="1" dirty="0">
                <a:solidFill>
                  <a:schemeClr val="dk1"/>
                </a:solidFill>
              </a:rPr>
              <a:t>自動過濾掉已經出租的房屋</a:t>
            </a:r>
            <a:r>
              <a:rPr lang="zh-TW" sz="1900" dirty="0">
                <a:solidFill>
                  <a:schemeClr val="dk1"/>
                </a:solidFill>
              </a:rPr>
              <a:t>。 </a:t>
            </a:r>
            <a:endParaRPr sz="1900" dirty="0"/>
          </a:p>
        </p:txBody>
      </p:sp>
      <p:pic>
        <p:nvPicPr>
          <p:cNvPr id="239" name="Google Shape;239;g3e739625b8e_1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175" y="2199550"/>
            <a:ext cx="4487642" cy="276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739625b8e_1_14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e739625b8e_1_14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應用一 ：使用範例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7" name="Google Shape;247;g3e739625b8e_1_145"/>
          <p:cNvSpPr txBox="1"/>
          <p:nvPr/>
        </p:nvSpPr>
        <p:spPr>
          <a:xfrm>
            <a:off x="411075" y="1005900"/>
            <a:ext cx="84780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情境：</a:t>
            </a:r>
            <a:r>
              <a:rPr lang="zh-TW" sz="1900">
                <a:solidFill>
                  <a:schemeClr val="dk1"/>
                </a:solidFill>
              </a:rPr>
              <a:t> 租客想找預算在 7000 元以下的獨立套房。 </a:t>
            </a:r>
            <a:endParaRPr sz="1900"/>
          </a:p>
        </p:txBody>
      </p:sp>
      <p:pic>
        <p:nvPicPr>
          <p:cNvPr id="248" name="Google Shape;248;g3e739625b8e_1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00" y="1500300"/>
            <a:ext cx="6619875" cy="99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g3e739625b8e_1_145"/>
          <p:cNvGraphicFramePr/>
          <p:nvPr/>
        </p:nvGraphicFramePr>
        <p:xfrm>
          <a:off x="292388" y="2985300"/>
          <a:ext cx="8715375" cy="1655575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type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area_sqm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landlord_name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landlord_phone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獨立套房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雲林縣虎尾鎮文化路64號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林房東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0912345678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獨立套房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雲林縣虎尾鎮林森路1段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陳房東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0933111222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739625b8e_1_15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e739625b8e_1_15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(視圖應用二)：房東對帳管理面板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7" name="Google Shape;257;g3e739625b8e_1_157"/>
          <p:cNvSpPr txBox="1"/>
          <p:nvPr/>
        </p:nvSpPr>
        <p:spPr>
          <a:xfrm>
            <a:off x="451550" y="1162150"/>
            <a:ext cx="84081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目的：</a:t>
            </a:r>
            <a:r>
              <a:rPr lang="zh-TW" sz="1900">
                <a:solidFill>
                  <a:schemeClr val="dk1"/>
                </a:solidFill>
              </a:rPr>
              <a:t> 房東需要一眼看出目前正在進行中的合約 (Active)，以及該合約的租客是誰、每個月收多少錢，方便對帳。 </a:t>
            </a:r>
            <a:endParaRPr sz="1900"/>
          </a:p>
        </p:txBody>
      </p:sp>
      <p:pic>
        <p:nvPicPr>
          <p:cNvPr id="258" name="Google Shape;258;g3e739625b8e_1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338" y="1972100"/>
            <a:ext cx="5027333" cy="2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39625b8e_1_16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e739625b8e_1_16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應用二：使用範例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6" name="Google Shape;266;g3e739625b8e_1_163"/>
          <p:cNvSpPr txBox="1"/>
          <p:nvPr/>
        </p:nvSpPr>
        <p:spPr>
          <a:xfrm>
            <a:off x="439350" y="1098200"/>
            <a:ext cx="8176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情境：</a:t>
            </a:r>
            <a:r>
              <a:rPr lang="zh-TW" sz="1900">
                <a:solidFill>
                  <a:schemeClr val="dk1"/>
                </a:solidFill>
              </a:rPr>
              <a:t> 房東林先生 (owner_id=1) 登入後，查看自己的所有生效中合約與租客名單。 </a:t>
            </a:r>
            <a:r>
              <a:rPr lang="zh-TW" sz="1900" i="1">
                <a:solidFill>
                  <a:schemeClr val="dk1"/>
                </a:solidFill>
              </a:rPr>
              <a:t>(透過程式帶入房東的篩選條件)</a:t>
            </a:r>
            <a:r>
              <a:rPr lang="zh-TW" sz="1900">
                <a:solidFill>
                  <a:schemeClr val="dk1"/>
                </a:solidFill>
              </a:rPr>
              <a:t> </a:t>
            </a:r>
            <a:endParaRPr sz="1900"/>
          </a:p>
        </p:txBody>
      </p:sp>
      <p:pic>
        <p:nvPicPr>
          <p:cNvPr id="267" name="Google Shape;267;g3e739625b8e_1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788" y="1858100"/>
            <a:ext cx="5819775" cy="127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g3e739625b8e_1_163"/>
          <p:cNvGraphicFramePr/>
          <p:nvPr/>
        </p:nvGraphicFramePr>
        <p:xfrm>
          <a:off x="1003313" y="3207525"/>
          <a:ext cx="7228750" cy="117585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84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1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tenant_name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start_date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end_date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雲林縣虎尾鎮文化路64號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王小明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2026-07-01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2027-06-30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雲林縣虎尾鎮文化路80號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李小華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2026-08-01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2027-07-31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9" name="Google Shape;269;g3e739625b8e_1_163"/>
          <p:cNvSpPr txBox="1"/>
          <p:nvPr/>
        </p:nvSpPr>
        <p:spPr>
          <a:xfrm>
            <a:off x="681088" y="4624650"/>
            <a:ext cx="78732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/>
              <a:t>房東可以根據這個面板，清楚知道哪些合約快到期，並核對當月匯款 </a:t>
            </a:r>
            <a:endParaRPr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39625b8e_1_17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e739625b8e_1_17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心得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7" name="Google Shape;277;g3e739625b8e_1_175"/>
          <p:cNvSpPr txBox="1"/>
          <p:nvPr/>
        </p:nvSpPr>
        <p:spPr>
          <a:xfrm>
            <a:off x="722575" y="1390550"/>
            <a:ext cx="7738200" cy="3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dirty="0">
                <a:solidFill>
                  <a:schemeClr val="dk1"/>
                </a:solidFill>
              </a:rPr>
              <a:t>在這次「線上租屋平臺」的資料庫專題中，我們將平時熟悉的租屋流程，轉化為嚴謹的關聯式資料庫設計。</a:t>
            </a:r>
            <a:endParaRPr sz="19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dirty="0">
                <a:solidFill>
                  <a:schemeClr val="dk1"/>
                </a:solidFill>
              </a:rPr>
              <a:t>最大的挑戰在於處理「防呆機制」與「實體關聯」。例如，透過設計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與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的狀態連動，解決了一屋二租的問題；透過 </a:t>
            </a:r>
            <a:r>
              <a:rPr lang="zh-TW" sz="1900" dirty="0">
                <a:solidFill>
                  <a:srgbClr val="188038"/>
                </a:solidFill>
              </a:rPr>
              <a:t>CHECK</a:t>
            </a:r>
            <a:r>
              <a:rPr lang="zh-TW" sz="1900" dirty="0">
                <a:solidFill>
                  <a:schemeClr val="dk1"/>
                </a:solidFill>
              </a:rPr>
              <a:t> 限制，確保了租金與坪數等數值的合理性。在實作 View 的過程中，我們也體會到封裝複雜 SQL 查詢的便利性，讓前端應用程式能更快速、安全地取得如「可租房源清單」與「房東對帳面板」等資訊。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739625b8e_1_35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e739625b8e_1_350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END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5" name="Google Shape;285;g3e739625b8e_1_350"/>
          <p:cNvSpPr txBox="1"/>
          <p:nvPr/>
        </p:nvSpPr>
        <p:spPr>
          <a:xfrm>
            <a:off x="1931600" y="2160300"/>
            <a:ext cx="5097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/>
              <a:t>感謝聆聽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2120</Words>
  <Application>Microsoft Office PowerPoint</Application>
  <PresentationFormat>如螢幕大小 (16:9)</PresentationFormat>
  <Paragraphs>348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Calibri</vt:lpstr>
      <vt:lpstr>Arial</vt:lpstr>
      <vt:lpstr>Arial Black</vt:lpstr>
      <vt:lpstr>Roboto Mono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协志 林</cp:lastModifiedBy>
  <cp:revision>3</cp:revision>
  <dcterms:created xsi:type="dcterms:W3CDTF">2026-04-26T14:23:38Z</dcterms:created>
  <dcterms:modified xsi:type="dcterms:W3CDTF">2026-06-02T14:51:53Z</dcterms:modified>
</cp:coreProperties>
</file>